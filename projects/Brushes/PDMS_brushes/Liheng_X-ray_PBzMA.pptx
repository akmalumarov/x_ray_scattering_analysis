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12" name="Уровень текста 1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21" name="Уровень текста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30" name="Уровень текста 1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39" name="Уровень текста 1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Текст заголовка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48" name="Уровень текста 1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5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Текст заголовка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73" name="Уровень текста 1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Текст заголовка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Уровень текста 1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Main graphic" descr="Main graphic"/>
          <p:cNvPicPr>
            <a:picLocks noChangeAspect="1"/>
          </p:cNvPicPr>
          <p:nvPr/>
        </p:nvPicPr>
        <p:blipFill>
          <a:blip r:embed="rId2">
            <a:extLst/>
          </a:blip>
          <a:srcRect l="0" t="0" r="55229" b="0"/>
          <a:stretch>
            <a:fillRect/>
          </a:stretch>
        </p:blipFill>
        <p:spPr>
          <a:xfrm>
            <a:off x="2603998" y="470326"/>
            <a:ext cx="5285133" cy="564122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4"/>
          <p:cNvSpPr txBox="1"/>
          <p:nvPr/>
        </p:nvSpPr>
        <p:spPr>
          <a:xfrm>
            <a:off x="8113805" y="2400300"/>
            <a:ext cx="814272" cy="21514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e>
                    <m:sub>
                      <m:r>
                        <a:rPr xmlns:a="http://schemas.openxmlformats.org/drawingml/2006/main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sub>
                  </m:sSub>
                  <m:r>
                    <a:rPr xmlns:a="http://schemas.openxmlformats.org/drawingml/2006/main" sz="1600" i="1">
                      <a:solidFill>
                        <a:srgbClr val="0000FF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1600" i="1">
                      <a:solidFill>
                        <a:srgbClr val="0000FF"/>
                      </a:solidFill>
                      <a:latin typeface="Cambria Math" panose="02040503050406030204" pitchFamily="18" charset="0"/>
                    </a:rPr>
                    <m:t>𝑠</m:t>
                  </m:r>
                  <m:r>
                    <a:rPr xmlns:a="http://schemas.openxmlformats.org/drawingml/2006/main" sz="1600" i="1">
                      <a:solidFill>
                        <a:srgbClr val="0000FF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1600" i="1">
                      <a:solidFill>
                        <a:srgbClr val="0000FF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  <a:endParaRPr sz="1600">
              <a:solidFill>
                <a:srgbClr val="0000FF"/>
              </a:solidFill>
            </a:endParaRPr>
          </a:p>
        </p:txBody>
      </p:sp>
      <p:sp>
        <p:nvSpPr>
          <p:cNvPr id="96" name="TextBox 5"/>
          <p:cNvSpPr txBox="1"/>
          <p:nvPr/>
        </p:nvSpPr>
        <p:spPr>
          <a:xfrm>
            <a:off x="8307387" y="2666526"/>
            <a:ext cx="35130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0000FF"/>
                </a:solidFill>
              </a:defRPr>
            </a:lvl1pPr>
          </a:lstStyle>
          <a:p>
            <a:pPr/>
            <a:r>
              <a:t>7.2</a:t>
            </a:r>
          </a:p>
        </p:txBody>
      </p:sp>
      <p:sp>
        <p:nvSpPr>
          <p:cNvPr id="97" name="TextBox 6"/>
          <p:cNvSpPr txBox="1"/>
          <p:nvPr/>
        </p:nvSpPr>
        <p:spPr>
          <a:xfrm>
            <a:off x="8307387" y="3067592"/>
            <a:ext cx="45019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0000FF"/>
                </a:solidFill>
              </a:defRPr>
            </a:lvl1pPr>
          </a:lstStyle>
          <a:p>
            <a:pPr/>
            <a:r>
              <a:t>4.46</a:t>
            </a:r>
          </a:p>
        </p:txBody>
      </p:sp>
      <p:sp>
        <p:nvSpPr>
          <p:cNvPr id="98" name="TextBox 7"/>
          <p:cNvSpPr txBox="1"/>
          <p:nvPr/>
        </p:nvSpPr>
        <p:spPr>
          <a:xfrm>
            <a:off x="8307387" y="3463581"/>
            <a:ext cx="45019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0000FF"/>
                </a:solidFill>
              </a:defRPr>
            </a:lvl1pPr>
          </a:lstStyle>
          <a:p>
            <a:pPr/>
            <a:r>
              <a:t>3.39</a:t>
            </a:r>
          </a:p>
        </p:txBody>
      </p:sp>
      <p:sp>
        <p:nvSpPr>
          <p:cNvPr id="99" name="TextBox 8"/>
          <p:cNvSpPr txBox="1"/>
          <p:nvPr/>
        </p:nvSpPr>
        <p:spPr>
          <a:xfrm>
            <a:off x="8307387" y="3752308"/>
            <a:ext cx="45019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0000FF"/>
                </a:solidFill>
              </a:defRPr>
            </a:lvl1pPr>
          </a:lstStyle>
          <a:p>
            <a:pPr/>
            <a:r>
              <a:t>2.48</a:t>
            </a:r>
          </a:p>
        </p:txBody>
      </p:sp>
      <p:sp>
        <p:nvSpPr>
          <p:cNvPr id="100" name="TextBox 9"/>
          <p:cNvSpPr txBox="1"/>
          <p:nvPr/>
        </p:nvSpPr>
        <p:spPr>
          <a:xfrm>
            <a:off x="8307387" y="4041035"/>
            <a:ext cx="45019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0000FF"/>
                </a:solidFill>
              </a:defRPr>
            </a:lvl1pPr>
          </a:lstStyle>
          <a:p>
            <a:pPr/>
            <a:r>
              <a:t>2.01</a:t>
            </a:r>
          </a:p>
        </p:txBody>
      </p:sp>
      <p:sp>
        <p:nvSpPr>
          <p:cNvPr id="101" name="TextBox 10"/>
          <p:cNvSpPr txBox="1"/>
          <p:nvPr/>
        </p:nvSpPr>
        <p:spPr>
          <a:xfrm>
            <a:off x="8307387" y="4415487"/>
            <a:ext cx="35130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0000FF"/>
                </a:solidFill>
              </a:defRPr>
            </a:lvl1pPr>
          </a:lstStyle>
          <a:p>
            <a:pPr/>
            <a:r>
              <a:t>1.8</a:t>
            </a:r>
          </a:p>
        </p:txBody>
      </p:sp>
      <p:sp>
        <p:nvSpPr>
          <p:cNvPr id="102" name="TextBox 11"/>
          <p:cNvSpPr txBox="1"/>
          <p:nvPr/>
        </p:nvSpPr>
        <p:spPr>
          <a:xfrm>
            <a:off x="8307387" y="4762853"/>
            <a:ext cx="45019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0000FF"/>
                </a:solidFill>
              </a:defRPr>
            </a:lvl1pPr>
          </a:lstStyle>
          <a:p>
            <a:pPr/>
            <a:r>
              <a:t>1.64</a:t>
            </a:r>
          </a:p>
        </p:txBody>
      </p:sp>
      <p:sp>
        <p:nvSpPr>
          <p:cNvPr id="103" name="TextBox 12"/>
          <p:cNvSpPr txBox="1"/>
          <p:nvPr/>
        </p:nvSpPr>
        <p:spPr>
          <a:xfrm>
            <a:off x="8307387" y="5195944"/>
            <a:ext cx="20302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0000FF"/>
                </a:solidFill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IHSC191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IHSC1916</a:t>
            </a:r>
          </a:p>
        </p:txBody>
      </p:sp>
      <p:pic>
        <p:nvPicPr>
          <p:cNvPr id="106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0648" y="1397689"/>
            <a:ext cx="5071823" cy="520721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07" name="Tаблица 1"/>
          <p:cNvGraphicFramePr/>
          <p:nvPr/>
        </p:nvGraphicFramePr>
        <p:xfrm>
          <a:off x="6098669" y="1863868"/>
          <a:ext cx="5176372" cy="314296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642844"/>
                <a:gridCol w="1642844"/>
                <a:gridCol w="1877981"/>
              </a:tblGrid>
              <a:tr h="62605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/>
                        <a:t>Sample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1" sz="1800"/>
                      </a:pPr>
                      <a:r>
                        <a:t>d</a:t>
                      </a:r>
                      <a:r>
                        <a:rPr baseline="-5999"/>
                        <a:t>1 </a:t>
                      </a:r>
                      <a:r>
                        <a:t>(nm) 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1" sz="1800"/>
                      </a:pPr>
                      <a:r>
                        <a:t>FWHM (nm </a:t>
                      </a:r>
                      <a:r>
                        <a:rPr baseline="31999"/>
                        <a:t>-1</a:t>
                      </a:r>
                      <a:r>
                        <a:t>)</a:t>
                      </a:r>
                    </a:p>
                  </a:txBody>
                  <a:tcPr marL="0" marR="0" marT="0" marB="0" anchor="ctr" anchorCtr="0" horzOverflow="overflow"/>
                </a:tc>
              </a:tr>
              <a:tr h="62605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N</a:t>
                      </a:r>
                      <a:r>
                        <a:rPr baseline="-5999"/>
                        <a:t>g</a:t>
                      </a:r>
                      <a:r>
                        <a:t> = 1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3.42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0.86</a:t>
                      </a:r>
                    </a:p>
                  </a:txBody>
                  <a:tcPr marL="0" marR="0" marT="0" marB="0" anchor="ctr" anchorCtr="0" horzOverflow="overflow"/>
                </a:tc>
              </a:tr>
              <a:tr h="62605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N</a:t>
                      </a:r>
                      <a:r>
                        <a:rPr baseline="-5999"/>
                        <a:t>g</a:t>
                      </a:r>
                      <a:r>
                        <a:t> = 2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4.16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0.74</a:t>
                      </a:r>
                    </a:p>
                  </a:txBody>
                  <a:tcPr marL="0" marR="0" marT="0" marB="0" anchor="ctr" anchorCtr="0" horzOverflow="overflow"/>
                </a:tc>
              </a:tr>
              <a:tr h="62605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N</a:t>
                      </a:r>
                      <a:r>
                        <a:rPr baseline="-5999"/>
                        <a:t>g</a:t>
                      </a:r>
                      <a:r>
                        <a:t> = 3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5.76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0.59</a:t>
                      </a:r>
                    </a:p>
                  </a:txBody>
                  <a:tcPr marL="0" marR="0" marT="0" marB="0" anchor="ctr" anchorCtr="0" horzOverflow="overflow"/>
                </a:tc>
              </a:tr>
              <a:tr h="62605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N</a:t>
                      </a:r>
                      <a:r>
                        <a:rPr baseline="-5999"/>
                        <a:t>g</a:t>
                      </a:r>
                      <a:r>
                        <a:t> = 4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6.60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0.48</a:t>
                      </a:r>
                    </a:p>
                  </a:txBody>
                  <a:tcPr marL="0" marR="0" marT="0" marB="0" anchor="ctr" anchorCtr="0" horzOverflow="overflow"/>
                </a:tc>
              </a:tr>
              <a:tr h="62605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N</a:t>
                      </a:r>
                      <a:r>
                        <a:rPr baseline="-5999"/>
                        <a:t>g</a:t>
                      </a:r>
                      <a:r>
                        <a:t> = 7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9.45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0.31</a:t>
                      </a: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